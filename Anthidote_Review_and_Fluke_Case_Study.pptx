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2" r:id="rId7"/>
    <p:sldId id="263" r:id="rId8"/>
    <p:sldId id="264" r:id="rId9"/>
    <p:sldId id="266" r:id="rId10"/>
    <p:sldId id="267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30972"/>
    <p:restoredTop sz="94610"/>
  </p:normalViewPr>
  <p:slideViewPr>
    <p:cSldViewPr snapToGrid="0" snapToObjects="1">
      <p:cViewPr varScale="1">
        <p:scale>
          <a:sx n="96" d="100"/>
          <a:sy n="96" d="100"/>
        </p:scale>
        <p:origin x="200" y="6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046822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1783080"/>
            <a:ext cx="960120" cy="128016"/>
          </a:xfrm>
          <a:prstGeom prst="rect">
            <a:avLst/>
          </a:prstGeom>
          <a:solidFill>
            <a:srgbClr val="F2B90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66928" y="201168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0" b="1" dirty="0">
                <a:solidFill>
                  <a:srgbClr val="0C1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Anthidote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566928" y="301752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173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Profitability review  ·  Fluke case study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66928" y="36576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2B9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Small, certain, fast.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566928" y="4343400"/>
            <a:ext cx="9601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6E7A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 sales   ·   $12,169 in   ·   $4,120 profit   ·   self-funded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66928" y="59893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C1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Camilo Forcucci   ·   Anthidote LLC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199" y="109728"/>
            <a:ext cx="10646229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FFC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475488" y="713232"/>
            <a:ext cx="10332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987552"/>
            <a:ext cx="11274552" cy="22860"/>
          </a:xfrm>
          <a:prstGeom prst="rect">
            <a:avLst/>
          </a:prstGeom>
          <a:solidFill>
            <a:srgbClr val="0C1F2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57200" y="6455664"/>
            <a:ext cx="3154680" cy="329184"/>
          </a:xfrm>
          <a:prstGeom prst="chevron">
            <a:avLst/>
          </a:prstGeom>
          <a:solidFill>
            <a:srgbClr val="F2B909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C1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Profitability review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657600" y="6455664"/>
            <a:ext cx="3154680" cy="329184"/>
          </a:xfrm>
          <a:prstGeom prst="chevron">
            <a:avLst/>
          </a:prstGeom>
          <a:solidFill>
            <a:srgbClr val="0C1F2D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Fluke case study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1475720" y="6473952"/>
            <a:ext cx="6583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6E7A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1170432"/>
            <a:ext cx="1371600" cy="841248"/>
          </a:xfrm>
          <a:prstGeom prst="rect">
            <a:avLst/>
          </a:prstGeom>
          <a:solidFill>
            <a:srgbClr val="0C1F2D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Situation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1938528" y="1170432"/>
            <a:ext cx="3154680" cy="841248"/>
          </a:xfrm>
          <a:prstGeom prst="rect">
            <a:avLst/>
          </a:prstGeom>
          <a:solidFill>
            <a:srgbClr val="E8ECF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1938528" y="1170432"/>
            <a:ext cx="64008" cy="841248"/>
          </a:xfrm>
          <a:prstGeom prst="rect">
            <a:avLst/>
          </a:prstGeom>
          <a:solidFill>
            <a:srgbClr val="F2B90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2103120" y="1243584"/>
            <a:ext cx="2880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C1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finds made 60% of summer profit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2103120" y="1554480"/>
            <a:ext cx="2880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make 20% now.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257800" y="1170432"/>
            <a:ext cx="3154680" cy="841248"/>
          </a:xfrm>
          <a:prstGeom prst="rect">
            <a:avLst/>
          </a:prstGeom>
          <a:solidFill>
            <a:srgbClr val="E8ECF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5257800" y="1170432"/>
            <a:ext cx="64008" cy="841248"/>
          </a:xfrm>
          <a:prstGeom prst="rect">
            <a:avLst/>
          </a:prstGeom>
          <a:solidFill>
            <a:srgbClr val="F2B90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5422392" y="1243584"/>
            <a:ext cx="2880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C1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 hold near 40%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422392" y="1554480"/>
            <a:ext cx="2880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a $110 meter to a $1,000 one.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8577072" y="1170432"/>
            <a:ext cx="3154680" cy="841248"/>
          </a:xfrm>
          <a:prstGeom prst="rect">
            <a:avLst/>
          </a:prstGeom>
          <a:solidFill>
            <a:srgbClr val="E8ECF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8577072" y="1170432"/>
            <a:ext cx="64008" cy="841248"/>
          </a:xfrm>
          <a:prstGeom prst="rect">
            <a:avLst/>
          </a:prstGeom>
          <a:solidFill>
            <a:srgbClr val="F2B90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8741664" y="1243584"/>
            <a:ext cx="2880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C1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is known before I buy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741664" y="1554480"/>
            <a:ext cx="2880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Meters sell in two days.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52628" y="2414941"/>
            <a:ext cx="1371600" cy="841248"/>
          </a:xfrm>
          <a:prstGeom prst="rect">
            <a:avLst/>
          </a:prstGeom>
          <a:solidFill>
            <a:srgbClr val="0C1F2D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Strategy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1938528" y="2409444"/>
            <a:ext cx="3154680" cy="841248"/>
          </a:xfrm>
          <a:prstGeom prst="rect">
            <a:avLst/>
          </a:prstGeom>
          <a:solidFill>
            <a:srgbClr val="0C1F2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2066544" y="2367426"/>
            <a:ext cx="5029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2B9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700" dirty="0"/>
          </a:p>
        </p:txBody>
      </p:sp>
      <p:sp>
        <p:nvSpPr>
          <p:cNvPr id="25" name="Text 23"/>
          <p:cNvSpPr/>
          <p:nvPr/>
        </p:nvSpPr>
        <p:spPr>
          <a:xfrm>
            <a:off x="2560320" y="2593766"/>
            <a:ext cx="2423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Put the money into Fluke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2560320" y="2889504"/>
            <a:ext cx="2423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D9E2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74% of profit already.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5257800" y="2414941"/>
            <a:ext cx="3154680" cy="841248"/>
          </a:xfrm>
          <a:prstGeom prst="rect">
            <a:avLst/>
          </a:prstGeom>
          <a:solidFill>
            <a:srgbClr val="0C1F2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5386250" y="2375998"/>
            <a:ext cx="5029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2B9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700" dirty="0"/>
          </a:p>
        </p:txBody>
      </p:sp>
      <p:sp>
        <p:nvSpPr>
          <p:cNvPr id="29" name="Text 27"/>
          <p:cNvSpPr/>
          <p:nvPr/>
        </p:nvSpPr>
        <p:spPr>
          <a:xfrm>
            <a:off x="5879592" y="2593031"/>
            <a:ext cx="2423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Raise the ticket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5879592" y="2880360"/>
            <a:ext cx="2423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D9E2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hours, bigger sale.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8577072" y="2414941"/>
            <a:ext cx="3154680" cy="841248"/>
          </a:xfrm>
          <a:prstGeom prst="rect">
            <a:avLst/>
          </a:prstGeom>
          <a:solidFill>
            <a:srgbClr val="0C1F2D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32" name="Text 30"/>
          <p:cNvSpPr/>
          <p:nvPr/>
        </p:nvSpPr>
        <p:spPr>
          <a:xfrm>
            <a:off x="8741664" y="2395919"/>
            <a:ext cx="5029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2B9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700" dirty="0"/>
          </a:p>
        </p:txBody>
      </p:sp>
      <p:sp>
        <p:nvSpPr>
          <p:cNvPr id="33" name="Text 31"/>
          <p:cNvSpPr/>
          <p:nvPr/>
        </p:nvSpPr>
        <p:spPr>
          <a:xfrm>
            <a:off x="9198864" y="2587752"/>
            <a:ext cx="2423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a higher workload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9198864" y="2917127"/>
            <a:ext cx="2423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D9E2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scales with price.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452628" y="3659831"/>
            <a:ext cx="1371600" cy="731520"/>
          </a:xfrm>
          <a:prstGeom prst="rect">
            <a:avLst/>
          </a:prstGeom>
          <a:solidFill>
            <a:srgbClr val="0C1F2D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1938528" y="3665302"/>
            <a:ext cx="9793224" cy="731520"/>
          </a:xfrm>
          <a:prstGeom prst="rect">
            <a:avLst/>
          </a:prstGeom>
          <a:solidFill>
            <a:srgbClr val="0C1F2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2167128" y="3665302"/>
            <a:ext cx="933602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$1,000 meter earns the same 40% as a $200 meter and sells just as fast. Hours limit this business, money does not.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457199" y="4773168"/>
            <a:ext cx="1371600" cy="1298448"/>
          </a:xfrm>
          <a:prstGeom prst="rect">
            <a:avLst/>
          </a:prstGeom>
          <a:solidFill>
            <a:srgbClr val="0C1F2D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KPIs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1938528" y="4768596"/>
            <a:ext cx="2331720" cy="1298448"/>
          </a:xfrm>
          <a:prstGeom prst="rect">
            <a:avLst/>
          </a:prstGeom>
          <a:solidFill>
            <a:srgbClr val="FFFFFF"/>
          </a:solidFill>
          <a:ln w="19050">
            <a:solidFill>
              <a:srgbClr val="F2B90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2066544" y="4850892"/>
            <a:ext cx="20756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C1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80%</a:t>
            </a:r>
            <a:endParaRPr lang="en-US" sz="2600" dirty="0"/>
          </a:p>
        </p:txBody>
      </p:sp>
      <p:sp>
        <p:nvSpPr>
          <p:cNvPr id="41" name="Text 39"/>
          <p:cNvSpPr/>
          <p:nvPr/>
        </p:nvSpPr>
        <p:spPr>
          <a:xfrm>
            <a:off x="2066544" y="5436108"/>
            <a:ext cx="20756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6E7A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profit from deliberate buys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4398264" y="4765113"/>
            <a:ext cx="2331720" cy="1298448"/>
          </a:xfrm>
          <a:prstGeom prst="rect">
            <a:avLst/>
          </a:prstGeom>
          <a:solidFill>
            <a:srgbClr val="FFFFFF"/>
          </a:solidFill>
          <a:ln w="19050">
            <a:solidFill>
              <a:srgbClr val="F2B90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4553712" y="4850892"/>
            <a:ext cx="20756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C1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41.8%</a:t>
            </a:r>
            <a:endParaRPr lang="en-US" sz="2600" dirty="0"/>
          </a:p>
        </p:txBody>
      </p:sp>
      <p:sp>
        <p:nvSpPr>
          <p:cNvPr id="44" name="Text 42"/>
          <p:cNvSpPr/>
          <p:nvPr/>
        </p:nvSpPr>
        <p:spPr>
          <a:xfrm>
            <a:off x="4526280" y="5445252"/>
            <a:ext cx="20756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6E7A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on Fluke capital</a:t>
            </a:r>
            <a:endParaRPr lang="en-US" sz="1050" dirty="0"/>
          </a:p>
        </p:txBody>
      </p:sp>
      <p:sp>
        <p:nvSpPr>
          <p:cNvPr id="45" name="Shape 43"/>
          <p:cNvSpPr/>
          <p:nvPr/>
        </p:nvSpPr>
        <p:spPr>
          <a:xfrm>
            <a:off x="6844066" y="4773168"/>
            <a:ext cx="2331720" cy="1298448"/>
          </a:xfrm>
          <a:prstGeom prst="rect">
            <a:avLst/>
          </a:prstGeom>
          <a:solidFill>
            <a:srgbClr val="FFFFFF"/>
          </a:solidFill>
          <a:ln w="19050">
            <a:solidFill>
              <a:srgbClr val="F2B90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/>
          <p:nvPr/>
        </p:nvSpPr>
        <p:spPr>
          <a:xfrm>
            <a:off x="7040880" y="4850892"/>
            <a:ext cx="20756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C1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1.9 days</a:t>
            </a:r>
            <a:endParaRPr lang="en-US" sz="2600" dirty="0"/>
          </a:p>
        </p:txBody>
      </p:sp>
      <p:sp>
        <p:nvSpPr>
          <p:cNvPr id="47" name="Text 45"/>
          <p:cNvSpPr/>
          <p:nvPr/>
        </p:nvSpPr>
        <p:spPr>
          <a:xfrm>
            <a:off x="7027164" y="5399532"/>
            <a:ext cx="20756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6E7A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hold, buy to sale</a:t>
            </a:r>
            <a:endParaRPr lang="en-US" sz="1050" dirty="0"/>
          </a:p>
        </p:txBody>
      </p:sp>
      <p:sp>
        <p:nvSpPr>
          <p:cNvPr id="48" name="Shape 46"/>
          <p:cNvSpPr/>
          <p:nvPr/>
        </p:nvSpPr>
        <p:spPr>
          <a:xfrm>
            <a:off x="9372600" y="4763806"/>
            <a:ext cx="2331720" cy="1298448"/>
          </a:xfrm>
          <a:prstGeom prst="rect">
            <a:avLst/>
          </a:prstGeom>
          <a:solidFill>
            <a:srgbClr val="FFFFFF"/>
          </a:solidFill>
          <a:ln w="19050">
            <a:solidFill>
              <a:srgbClr val="F2B90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Text 47"/>
          <p:cNvSpPr/>
          <p:nvPr/>
        </p:nvSpPr>
        <p:spPr>
          <a:xfrm>
            <a:off x="9528048" y="4850892"/>
            <a:ext cx="20756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C1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74%</a:t>
            </a:r>
            <a:endParaRPr lang="en-US" sz="2600" dirty="0"/>
          </a:p>
        </p:txBody>
      </p:sp>
      <p:sp>
        <p:nvSpPr>
          <p:cNvPr id="50" name="Text 48"/>
          <p:cNvSpPr/>
          <p:nvPr/>
        </p:nvSpPr>
        <p:spPr>
          <a:xfrm>
            <a:off x="9528048" y="5399532"/>
            <a:ext cx="20756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6E7A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all profit is Fluke</a:t>
            </a:r>
            <a:endParaRPr lang="en-US" sz="1050" dirty="0"/>
          </a:p>
        </p:txBody>
      </p:sp>
      <p:sp>
        <p:nvSpPr>
          <p:cNvPr id="51" name="Text 49"/>
          <p:cNvSpPr/>
          <p:nvPr/>
        </p:nvSpPr>
        <p:spPr>
          <a:xfrm>
            <a:off x="457200" y="6126480"/>
            <a:ext cx="11247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5740"/>
            <a:ext cx="103327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C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product line makes three quarters of the profit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75488" y="713232"/>
            <a:ext cx="10332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987552"/>
            <a:ext cx="11274552" cy="22860"/>
          </a:xfrm>
          <a:prstGeom prst="rect">
            <a:avLst/>
          </a:prstGeom>
          <a:solidFill>
            <a:srgbClr val="0C1F2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57200" y="6455664"/>
            <a:ext cx="3154680" cy="329184"/>
          </a:xfrm>
          <a:prstGeom prst="chevron">
            <a:avLst/>
          </a:prstGeom>
          <a:solidFill>
            <a:srgbClr val="F2B909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C1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Profitability review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657600" y="6455664"/>
            <a:ext cx="3154680" cy="329184"/>
          </a:xfrm>
          <a:prstGeom prst="chevron">
            <a:avLst/>
          </a:prstGeom>
          <a:solidFill>
            <a:srgbClr val="0C1F2D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Fluke case study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1475720" y="6473952"/>
            <a:ext cx="6583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6E7A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66928" y="1234440"/>
            <a:ext cx="44348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finds carried the summer. Now they are 20%.</a:t>
            </a:r>
            <a:endParaRPr lang="en-US" dirty="0"/>
          </a:p>
          <a:p>
            <a:pPr marL="0" indent="0">
              <a:lnSpc>
                <a:spcPct val="115000"/>
              </a:lnSpc>
              <a:buNone/>
            </a:pPr>
            <a:endParaRPr lang="en-US" dirty="0"/>
          </a:p>
          <a:p>
            <a:pPr marL="0" indent="0">
              <a:lnSpc>
                <a:spcPct val="115000"/>
              </a:lnSpc>
              <a:buNone/>
            </a:pPr>
            <a:r>
              <a:rPr lang="en-US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Fluke is $3,056 of the $4,120 made, across nineteen sales.</a:t>
            </a:r>
            <a:endParaRPr lang="en-US" dirty="0"/>
          </a:p>
          <a:p>
            <a:pPr marL="0" indent="0">
              <a:lnSpc>
                <a:spcPct val="115000"/>
              </a:lnSpc>
              <a:buNone/>
            </a:pPr>
            <a:endParaRPr lang="en-US" dirty="0"/>
          </a:p>
          <a:p>
            <a:pPr marL="0" indent="0">
              <a:lnSpc>
                <a:spcPct val="115000"/>
              </a:lnSpc>
              <a:buNone/>
            </a:pPr>
            <a:r>
              <a:rPr lang="en-US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is the business.</a:t>
            </a:r>
            <a:endParaRPr lang="en-US" dirty="0"/>
          </a:p>
        </p:txBody>
      </p:sp>
      <p:sp>
        <p:nvSpPr>
          <p:cNvPr id="10" name="Shape 8"/>
          <p:cNvSpPr/>
          <p:nvPr/>
        </p:nvSpPr>
        <p:spPr>
          <a:xfrm>
            <a:off x="566928" y="3657600"/>
            <a:ext cx="4434840" cy="2148840"/>
          </a:xfrm>
          <a:prstGeom prst="rect">
            <a:avLst/>
          </a:prstGeom>
          <a:solidFill>
            <a:srgbClr val="F4F6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566928" y="3657600"/>
            <a:ext cx="4434840" cy="292608"/>
          </a:xfrm>
          <a:prstGeom prst="rect">
            <a:avLst/>
          </a:prstGeom>
          <a:solidFill>
            <a:srgbClr val="F2B90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94944" y="3657600"/>
            <a:ext cx="4178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C1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that margin</a:t>
            </a: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694944" y="4041648"/>
            <a:ext cx="4178808" cy="1673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2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Blended margin fell 48% to 34%. Free items book at 100% and flattered the average. Margin on bought inventory held near 30%.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5349240" y="1188720"/>
            <a:ext cx="6355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C1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Profit by how I got the item</a:t>
            </a:r>
            <a:endParaRPr lang="en-US" dirty="0"/>
          </a:p>
        </p:txBody>
      </p:sp>
      <p:sp>
        <p:nvSpPr>
          <p:cNvPr id="15" name="Shape 13"/>
          <p:cNvSpPr/>
          <p:nvPr/>
        </p:nvSpPr>
        <p:spPr>
          <a:xfrm>
            <a:off x="5349240" y="1444752"/>
            <a:ext cx="6355080" cy="14630"/>
          </a:xfrm>
          <a:prstGeom prst="rect">
            <a:avLst/>
          </a:prstGeom>
          <a:solidFill>
            <a:srgbClr val="0C1F2D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6" name="Image 0" descr="/mnt/user-data/outputs/c_bought_vs_fre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49240" y="1536192"/>
            <a:ext cx="6355080" cy="1472184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5349240" y="3218688"/>
            <a:ext cx="6355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C1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Profit by product line</a:t>
            </a:r>
            <a:endParaRPr lang="en-US" dirty="0"/>
          </a:p>
        </p:txBody>
      </p:sp>
      <p:sp>
        <p:nvSpPr>
          <p:cNvPr id="18" name="Shape 15"/>
          <p:cNvSpPr/>
          <p:nvPr/>
        </p:nvSpPr>
        <p:spPr>
          <a:xfrm>
            <a:off x="5349240" y="3474720"/>
            <a:ext cx="6355080" cy="14630"/>
          </a:xfrm>
          <a:prstGeom prst="rect">
            <a:avLst/>
          </a:prstGeom>
          <a:solidFill>
            <a:srgbClr val="0C1F2D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9" name="Image 1" descr="/mnt/user-data/outputs/c_profit_by_lin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49240" y="3566160"/>
            <a:ext cx="5760720" cy="2532888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457200" y="6126480"/>
            <a:ext cx="11247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8570"/>
            <a:ext cx="103327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C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$1,000 meter earns the same rate as a $200 one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75488" y="713232"/>
            <a:ext cx="10332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987552"/>
            <a:ext cx="11274552" cy="22860"/>
          </a:xfrm>
          <a:prstGeom prst="rect">
            <a:avLst/>
          </a:prstGeom>
          <a:solidFill>
            <a:srgbClr val="0C1F2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57200" y="6455664"/>
            <a:ext cx="3154680" cy="329184"/>
          </a:xfrm>
          <a:prstGeom prst="chevron">
            <a:avLst/>
          </a:prstGeom>
          <a:solidFill>
            <a:srgbClr val="F2B909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C1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Profitability review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657600" y="6455664"/>
            <a:ext cx="3154680" cy="329184"/>
          </a:xfrm>
          <a:prstGeom prst="chevron">
            <a:avLst/>
          </a:prstGeom>
          <a:solidFill>
            <a:srgbClr val="0C1F2D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Fluke case study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1475720" y="6473952"/>
            <a:ext cx="6583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6E7A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66928" y="1152144"/>
            <a:ext cx="6766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C1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by ticket size</a:t>
            </a:r>
            <a:endParaRPr lang="en-US" dirty="0"/>
          </a:p>
        </p:txBody>
      </p:sp>
      <p:sp>
        <p:nvSpPr>
          <p:cNvPr id="10" name="Shape 8"/>
          <p:cNvSpPr/>
          <p:nvPr/>
        </p:nvSpPr>
        <p:spPr>
          <a:xfrm>
            <a:off x="566928" y="1408176"/>
            <a:ext cx="6766560" cy="14630"/>
          </a:xfrm>
          <a:prstGeom prst="rect">
            <a:avLst/>
          </a:prstGeom>
          <a:solidFill>
            <a:srgbClr val="0C1F2D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1" name="Image 0" descr="/mnt/user-data/outputs/c_ticket_band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9120" y="1668776"/>
            <a:ext cx="6766560" cy="2583184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1590403" y="4346557"/>
            <a:ext cx="4743994" cy="2862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E7A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sales under $250  ·  9 between $250 and $500  ·  3 above $500 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7589520" y="1152144"/>
            <a:ext cx="4023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C1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means</a:t>
            </a:r>
            <a:endParaRPr lang="en-US" dirty="0"/>
          </a:p>
        </p:txBody>
      </p:sp>
      <p:sp>
        <p:nvSpPr>
          <p:cNvPr id="14" name="Shape 11"/>
          <p:cNvSpPr/>
          <p:nvPr/>
        </p:nvSpPr>
        <p:spPr>
          <a:xfrm>
            <a:off x="7589520" y="1408176"/>
            <a:ext cx="4023360" cy="14630"/>
          </a:xfrm>
          <a:prstGeom prst="rect">
            <a:avLst/>
          </a:prstGeom>
          <a:solidFill>
            <a:srgbClr val="0C1F2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7589520" y="1517904"/>
            <a:ext cx="402336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barely moves: 38%, 44%, 40%. Hold time stays near two days.</a:t>
            </a:r>
            <a:endParaRPr lang="en-US" sz="1600" dirty="0"/>
          </a:p>
          <a:p>
            <a:pPr marL="0" indent="0">
              <a:lnSpc>
                <a:spcPct val="112000"/>
              </a:lnSpc>
              <a:buNone/>
            </a:pPr>
            <a:endParaRPr lang="en-US" sz="16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Profit per sale: $72 → $167 → $349.</a:t>
            </a:r>
            <a:endParaRPr lang="en-US" sz="1600" dirty="0"/>
          </a:p>
          <a:p>
            <a:pPr marL="0" indent="0">
              <a:lnSpc>
                <a:spcPct val="112000"/>
              </a:lnSpc>
              <a:buNone/>
            </a:pPr>
            <a:endParaRPr lang="en-US" sz="16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sale costs the same search.</a:t>
            </a:r>
            <a:endParaRPr lang="en-US" sz="1600" dirty="0"/>
          </a:p>
        </p:txBody>
      </p:sp>
      <p:sp>
        <p:nvSpPr>
          <p:cNvPr id="16" name="Shape 13"/>
          <p:cNvSpPr/>
          <p:nvPr/>
        </p:nvSpPr>
        <p:spPr>
          <a:xfrm>
            <a:off x="7589520" y="3291840"/>
            <a:ext cx="4023360" cy="1691640"/>
          </a:xfrm>
          <a:prstGeom prst="rect">
            <a:avLst/>
          </a:prstGeom>
          <a:solidFill>
            <a:srgbClr val="0C1F2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7754112" y="3383280"/>
            <a:ext cx="3703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F2B9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Against the research</a:t>
            </a:r>
            <a:endParaRPr lang="en-US" dirty="0"/>
          </a:p>
        </p:txBody>
      </p:sp>
      <p:sp>
        <p:nvSpPr>
          <p:cNvPr id="18" name="Text 15"/>
          <p:cNvSpPr/>
          <p:nvPr/>
        </p:nvSpPr>
        <p:spPr>
          <a:xfrm>
            <a:off x="7754112" y="3657600"/>
            <a:ext cx="3703320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D9E2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AI-run arbitrage margins are “not sustainable when the scale… is significantly increased” (Tanlamai et al., 2024).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D9E2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Mine held across a 10x range: I buy in an inefficient market and sell in an efficient one.</a:t>
            </a:r>
            <a:endParaRPr lang="en-US" sz="1400" dirty="0"/>
          </a:p>
        </p:txBody>
      </p:sp>
      <p:sp>
        <p:nvSpPr>
          <p:cNvPr id="19" name="Shape 16"/>
          <p:cNvSpPr/>
          <p:nvPr/>
        </p:nvSpPr>
        <p:spPr>
          <a:xfrm>
            <a:off x="566928" y="5230368"/>
            <a:ext cx="11064240" cy="749808"/>
          </a:xfrm>
          <a:prstGeom prst="rect">
            <a:avLst/>
          </a:prstGeom>
          <a:solidFill>
            <a:srgbClr val="FFFFFF"/>
          </a:solidFill>
          <a:ln w="22225">
            <a:solidFill>
              <a:srgbClr val="F2B909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20" name="Text 17"/>
          <p:cNvSpPr/>
          <p:nvPr/>
        </p:nvSpPr>
        <p:spPr>
          <a:xfrm>
            <a:off x="749808" y="5230368"/>
            <a:ext cx="15087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C1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</a:t>
            </a:r>
            <a:endParaRPr lang="en-US" dirty="0"/>
          </a:p>
        </p:txBody>
      </p:sp>
      <p:sp>
        <p:nvSpPr>
          <p:cNvPr id="21" name="Text 18"/>
          <p:cNvSpPr/>
          <p:nvPr/>
        </p:nvSpPr>
        <p:spPr>
          <a:xfrm>
            <a:off x="2331720" y="5252575"/>
            <a:ext cx="92933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C1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Hours are the ceiling, not cash. At a two-day hold I need money for one meter at a time so I should raise the price of the meter.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0807"/>
            <a:ext cx="103327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C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Cash that comes back in two days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475488" y="713232"/>
            <a:ext cx="10332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987552"/>
            <a:ext cx="11274552" cy="22860"/>
          </a:xfrm>
          <a:prstGeom prst="rect">
            <a:avLst/>
          </a:prstGeom>
          <a:solidFill>
            <a:srgbClr val="0C1F2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57200" y="6455664"/>
            <a:ext cx="3154680" cy="329184"/>
          </a:xfrm>
          <a:prstGeom prst="chevron">
            <a:avLst/>
          </a:prstGeom>
          <a:solidFill>
            <a:srgbClr val="F2B909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C1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Profitability review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657600" y="6455664"/>
            <a:ext cx="3154680" cy="329184"/>
          </a:xfrm>
          <a:prstGeom prst="chevron">
            <a:avLst/>
          </a:prstGeom>
          <a:solidFill>
            <a:srgbClr val="0C1F2D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Fluke case study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1475720" y="6473952"/>
            <a:ext cx="6583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6E7A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66928" y="1154430"/>
            <a:ext cx="461772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Research: turnover falls as demand uncertainty rises (Hançerlioğulları et al., 2016), and margin usually costs speed.</a:t>
            </a:r>
            <a:endParaRPr lang="en-US" sz="1600" dirty="0"/>
          </a:p>
          <a:p>
            <a:pPr marL="0" indent="0">
              <a:lnSpc>
                <a:spcPct val="115000"/>
              </a:lnSpc>
              <a:buNone/>
            </a:pPr>
            <a:endParaRPr lang="en-US" sz="16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Fluke pays me both. Highest margin, 29.5%. Fastest sale, 1.9 days.</a:t>
            </a:r>
            <a:endParaRPr lang="en-US" sz="1600" dirty="0"/>
          </a:p>
          <a:p>
            <a:pPr marL="0" indent="0">
              <a:lnSpc>
                <a:spcPct val="115000"/>
              </a:lnSpc>
              <a:buNone/>
            </a:pPr>
            <a:endParaRPr lang="en-US" sz="16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look the price up, then buy under it.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66928" y="3566160"/>
            <a:ext cx="4617720" cy="2286000"/>
          </a:xfrm>
          <a:prstGeom prst="rect">
            <a:avLst/>
          </a:prstGeom>
          <a:solidFill>
            <a:srgbClr val="F4F6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566928" y="3566160"/>
            <a:ext cx="4617720" cy="292608"/>
          </a:xfrm>
          <a:prstGeom prst="rect">
            <a:avLst/>
          </a:prstGeom>
          <a:solidFill>
            <a:srgbClr val="F2B90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94944" y="3566160"/>
            <a:ext cx="43616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C1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one that did not work</a:t>
            </a: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694944" y="3950208"/>
            <a:ext cx="4361688" cy="1810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guitar: $400 in, $60 out, and 30 days of held cash against a three-day average everywhere else. Never a loss, but rather just dollars that could not move. The same $400 in a Fluke pays about $167 and is back in two days.</a:t>
            </a:r>
            <a:endParaRPr lang="en-US" dirty="0"/>
          </a:p>
        </p:txBody>
      </p:sp>
      <p:pic>
        <p:nvPicPr>
          <p:cNvPr id="14" name="Image 0" descr="/mnt/user-data/outputs/c_capital_vs_profi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12664" y="1465435"/>
            <a:ext cx="6458947" cy="4039252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5849983" y="5632703"/>
            <a:ext cx="6126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E7A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Meters cluster tight and return fast. The guitar sits alone: the most cash committed, near the least made.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457200" y="6126480"/>
            <a:ext cx="11247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2286000"/>
            <a:ext cx="960120" cy="128016"/>
          </a:xfrm>
          <a:prstGeom prst="rect">
            <a:avLst/>
          </a:prstGeom>
          <a:solidFill>
            <a:srgbClr val="F2B90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66928" y="2514600"/>
            <a:ext cx="5486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66928" y="2720340"/>
            <a:ext cx="8686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0C1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Fluke case study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566928" y="3749040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8476488" y="2820053"/>
            <a:ext cx="914400" cy="914400"/>
          </a:xfrm>
          <a:prstGeom prst="chevron">
            <a:avLst/>
          </a:prstGeom>
          <a:solidFill>
            <a:srgbClr val="0C1F2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9541764" y="2820053"/>
            <a:ext cx="914400" cy="914400"/>
          </a:xfrm>
          <a:prstGeom prst="chevron">
            <a:avLst/>
          </a:prstGeom>
          <a:solidFill>
            <a:srgbClr val="F2B90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10561320" y="2817223"/>
            <a:ext cx="914400" cy="914400"/>
          </a:xfrm>
          <a:prstGeom prst="chevron">
            <a:avLst/>
          </a:prstGeom>
          <a:solidFill>
            <a:srgbClr val="D9D9D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57200" y="6455664"/>
            <a:ext cx="3154680" cy="329184"/>
          </a:xfrm>
          <a:prstGeom prst="chevron">
            <a:avLst/>
          </a:prstGeom>
          <a:solidFill>
            <a:srgbClr val="0C1F2D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Profitability review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657600" y="6455664"/>
            <a:ext cx="3154680" cy="329184"/>
          </a:xfrm>
          <a:prstGeom prst="chevron">
            <a:avLst/>
          </a:prstGeom>
          <a:solidFill>
            <a:srgbClr val="F2B909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C1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Fluke case study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1475720" y="6473952"/>
            <a:ext cx="6583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6E7A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2034"/>
            <a:ext cx="103327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C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Fluke sells trust. I resell it.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475488" y="713232"/>
            <a:ext cx="10332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987552"/>
            <a:ext cx="11274552" cy="22860"/>
          </a:xfrm>
          <a:prstGeom prst="rect">
            <a:avLst/>
          </a:prstGeom>
          <a:solidFill>
            <a:srgbClr val="0C1F2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57200" y="6455664"/>
            <a:ext cx="3154680" cy="329184"/>
          </a:xfrm>
          <a:prstGeom prst="chevron">
            <a:avLst/>
          </a:prstGeom>
          <a:solidFill>
            <a:srgbClr val="0C1F2D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Profitability review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657600" y="6455664"/>
            <a:ext cx="3154680" cy="329184"/>
          </a:xfrm>
          <a:prstGeom prst="chevron">
            <a:avLst/>
          </a:prstGeom>
          <a:solidFill>
            <a:srgbClr val="F2B909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C1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Fluke case study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1475720" y="6473952"/>
            <a:ext cx="6583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6E7A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66928" y="1213866"/>
            <a:ext cx="5852160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multimeter is safety equipment and Fluke is one of the best manufacturers. Fluke competes on trust and longevity, never on price, which is a deliberate strategy.
“Budget meters often fail within 2-5 years” (Revine, 2025). A Fluke runs fifteen to twenty-five, and “many electricians are still using Fluke meters from the 1990s” (SparkShift, 2026).
</a:t>
            </a:r>
            <a:r>
              <a:rPr lang="en-US" sz="1450" dirty="0">
                <a:solidFill>
                  <a:srgbClr val="0C1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product that refuses to wear out is why a ten-year-old unit sells for real money. Their strategy is my margin: used, a Fluke competes only with other Flukes.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566928" y="4114800"/>
            <a:ext cx="5852160" cy="1691640"/>
          </a:xfrm>
          <a:prstGeom prst="rect">
            <a:avLst/>
          </a:prstGeom>
          <a:solidFill>
            <a:srgbClr val="F4F6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566928" y="4114800"/>
            <a:ext cx="5852160" cy="292608"/>
          </a:xfrm>
          <a:prstGeom prst="rect">
            <a:avLst/>
          </a:prstGeom>
          <a:solidFill>
            <a:srgbClr val="F2B90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94944" y="4114800"/>
            <a:ext cx="55961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C1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Monopoly?</a:t>
            </a: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694944" y="4498848"/>
            <a:ext cx="5596128" cy="12161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2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Fluke is not a monopoly. Klein sells credible meters for less and many electricians carry both. Fluke owns the premium, industrial end that holds value.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6629400" y="1234440"/>
            <a:ext cx="4983480" cy="4572000"/>
          </a:xfrm>
          <a:prstGeom prst="rect">
            <a:avLst/>
          </a:prstGeom>
          <a:solidFill>
            <a:srgbClr val="0C1F2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812280" y="13304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2B9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means for me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6812280" y="1828800"/>
            <a:ext cx="4572000" cy="3581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2000" dirty="0">
                <a:solidFill>
                  <a:srgbClr val="D9E2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buyer cannot test a used meter before it ships. The Fluke name does the testing.
So I buy from a seller who wants it gone, or doesn’t know its value, and sell to an electrician who needs it Monday.
</a:t>
            </a: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other meter brand carries trust across a resale. That is the entire niche.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457200" y="6126480"/>
            <a:ext cx="11247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2549"/>
            <a:ext cx="103327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C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 is not what limits me. I am 1% of it.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75488" y="713232"/>
            <a:ext cx="10332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987552"/>
            <a:ext cx="11274552" cy="22860"/>
          </a:xfrm>
          <a:prstGeom prst="rect">
            <a:avLst/>
          </a:prstGeom>
          <a:solidFill>
            <a:srgbClr val="0C1F2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57200" y="6455664"/>
            <a:ext cx="3154680" cy="329184"/>
          </a:xfrm>
          <a:prstGeom prst="chevron">
            <a:avLst/>
          </a:prstGeom>
          <a:solidFill>
            <a:srgbClr val="0C1F2D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Profitability review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657600" y="6455664"/>
            <a:ext cx="3154680" cy="329184"/>
          </a:xfrm>
          <a:prstGeom prst="chevron">
            <a:avLst/>
          </a:prstGeom>
          <a:solidFill>
            <a:srgbClr val="F2B909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C1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Fluke case study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1475720" y="6473952"/>
            <a:ext cx="6583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6E7A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88598" y="1199584"/>
            <a:ext cx="3264293" cy="621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C1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Anthidote: Fluke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554182" y="800100"/>
            <a:ext cx="1585514" cy="32644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C1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2096154" y="818388"/>
            <a:ext cx="1650800" cy="32644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E7A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Fluke sales sold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66923" y="1857321"/>
            <a:ext cx="3264293" cy="233172"/>
          </a:xfrm>
          <a:prstGeom prst="rect">
            <a:avLst/>
          </a:prstGeom>
          <a:solidFill>
            <a:srgbClr val="D9D9D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554182" y="1888236"/>
            <a:ext cx="1585514" cy="32644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C1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41.8%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2064575" y="1917954"/>
            <a:ext cx="1650800" cy="32644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E7A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on capital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54182" y="2898648"/>
            <a:ext cx="3264293" cy="233172"/>
          </a:xfrm>
          <a:prstGeom prst="rect">
            <a:avLst/>
          </a:prstGeom>
          <a:solidFill>
            <a:srgbClr val="D9D9D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554182" y="3143250"/>
            <a:ext cx="1585514" cy="32644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C1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1.9 days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2138285" y="3167253"/>
            <a:ext cx="1650800" cy="32644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E7A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hold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554182" y="4082796"/>
            <a:ext cx="3264293" cy="233172"/>
          </a:xfrm>
          <a:prstGeom prst="rect">
            <a:avLst/>
          </a:prstGeom>
          <a:solidFill>
            <a:srgbClr val="D9D9D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4041648" y="1188720"/>
            <a:ext cx="0" cy="4663440"/>
          </a:xfrm>
          <a:prstGeom prst="line">
            <a:avLst/>
          </a:prstGeom>
          <a:noFill/>
          <a:ln w="12700">
            <a:solidFill>
              <a:srgbClr val="D9D9D9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8183880" y="1188720"/>
            <a:ext cx="0" cy="4663440"/>
          </a:xfrm>
          <a:prstGeom prst="line">
            <a:avLst/>
          </a:prstGeom>
          <a:noFill/>
          <a:ln w="12700">
            <a:solidFill>
              <a:srgbClr val="D9D9D9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4219956" y="1448889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6E7A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Recent sold listings on eBay, five models I trade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224528" y="1627632"/>
            <a:ext cx="3749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000" b="1" dirty="0">
                <a:solidFill>
                  <a:srgbClr val="0C1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1,389</a:t>
            </a:r>
            <a:endParaRPr lang="en-US" sz="5000" dirty="0"/>
          </a:p>
        </p:txBody>
      </p:sp>
      <p:sp>
        <p:nvSpPr>
          <p:cNvPr id="24" name="Text 22"/>
          <p:cNvSpPr/>
          <p:nvPr/>
        </p:nvSpPr>
        <p:spPr>
          <a:xfrm>
            <a:off x="4224528" y="2432304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recent sales across those five models</a:t>
            </a:r>
            <a:endParaRPr lang="en-US" sz="1200" dirty="0"/>
          </a:p>
        </p:txBody>
      </p:sp>
      <p:pic>
        <p:nvPicPr>
          <p:cNvPr id="25" name="Image 0" descr="/mnt/user-data/outputs/c_fluke_deman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96008" y="2940885"/>
            <a:ext cx="3749040" cy="1731699"/>
          </a:xfrm>
          <a:prstGeom prst="rect">
            <a:avLst/>
          </a:prstGeom>
        </p:spPr>
      </p:pic>
      <p:sp>
        <p:nvSpPr>
          <p:cNvPr id="26" name="Text 23"/>
          <p:cNvSpPr/>
          <p:nvPr/>
        </p:nvSpPr>
        <p:spPr>
          <a:xfrm>
            <a:off x="4219956" y="4866241"/>
            <a:ext cx="3749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0C1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 if all nineteen of my sales landed in that window, I am 1.4% of it.</a:t>
            </a:r>
            <a:endParaRPr lang="en-US" sz="1400" dirty="0"/>
          </a:p>
        </p:txBody>
      </p:sp>
      <p:sp>
        <p:nvSpPr>
          <p:cNvPr id="27" name="Text 24"/>
          <p:cNvSpPr/>
          <p:nvPr/>
        </p:nvSpPr>
        <p:spPr>
          <a:xfrm>
            <a:off x="8333237" y="1384881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C1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thoughts</a:t>
            </a:r>
            <a:endParaRPr lang="en-US" dirty="0"/>
          </a:p>
        </p:txBody>
      </p:sp>
      <p:sp>
        <p:nvSpPr>
          <p:cNvPr id="28" name="Shape 25"/>
          <p:cNvSpPr/>
          <p:nvPr/>
        </p:nvSpPr>
        <p:spPr>
          <a:xfrm>
            <a:off x="8345978" y="1887665"/>
            <a:ext cx="3291840" cy="1325880"/>
          </a:xfrm>
          <a:prstGeom prst="rect">
            <a:avLst/>
          </a:prstGeom>
          <a:solidFill>
            <a:srgbClr val="E8ECF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Shape 26"/>
          <p:cNvSpPr/>
          <p:nvPr/>
        </p:nvSpPr>
        <p:spPr>
          <a:xfrm>
            <a:off x="8334756" y="1887665"/>
            <a:ext cx="64008" cy="1325880"/>
          </a:xfrm>
          <a:prstGeom prst="rect">
            <a:avLst/>
          </a:prstGeom>
          <a:solidFill>
            <a:srgbClr val="F2B90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7"/>
          <p:cNvSpPr/>
          <p:nvPr/>
        </p:nvSpPr>
        <p:spPr>
          <a:xfrm>
            <a:off x="8522208" y="1980221"/>
            <a:ext cx="303580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eBay reports these as “recently ended”, not a fixed window. 1,389 is a floor on demand and 1.4% a ceiling on my share.</a:t>
            </a:r>
            <a:endParaRPr lang="en-US" sz="1600" dirty="0"/>
          </a:p>
        </p:txBody>
      </p:sp>
      <p:sp>
        <p:nvSpPr>
          <p:cNvPr id="31" name="Shape 28"/>
          <p:cNvSpPr/>
          <p:nvPr/>
        </p:nvSpPr>
        <p:spPr>
          <a:xfrm>
            <a:off x="8366760" y="3561588"/>
            <a:ext cx="3291840" cy="603504"/>
          </a:xfrm>
          <a:prstGeom prst="rect">
            <a:avLst/>
          </a:prstGeom>
          <a:solidFill>
            <a:srgbClr val="FFFFFF"/>
          </a:solidFill>
          <a:ln w="19050">
            <a:solidFill>
              <a:srgbClr val="F2B90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29"/>
          <p:cNvSpPr/>
          <p:nvPr/>
        </p:nvSpPr>
        <p:spPr>
          <a:xfrm>
            <a:off x="8412480" y="3548961"/>
            <a:ext cx="32918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C1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Buyers are not my problem.</a:t>
            </a:r>
            <a:endParaRPr lang="en-US" sz="1100" dirty="0"/>
          </a:p>
        </p:txBody>
      </p:sp>
      <p:sp>
        <p:nvSpPr>
          <p:cNvPr id="33" name="Shape 30"/>
          <p:cNvSpPr/>
          <p:nvPr/>
        </p:nvSpPr>
        <p:spPr>
          <a:xfrm>
            <a:off x="8366760" y="4485131"/>
            <a:ext cx="3291840" cy="1021189"/>
          </a:xfrm>
          <a:prstGeom prst="rect">
            <a:avLst/>
          </a:prstGeom>
          <a:solidFill>
            <a:srgbClr val="E8ECF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Text 31"/>
          <p:cNvSpPr/>
          <p:nvPr/>
        </p:nvSpPr>
        <p:spPr>
          <a:xfrm>
            <a:off x="8522208" y="4653153"/>
            <a:ext cx="303580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could sell ten times today's volume and still not press against this market.</a:t>
            </a:r>
            <a:endParaRPr lang="en-US" sz="1600" dirty="0"/>
          </a:p>
        </p:txBody>
      </p:sp>
      <p:sp>
        <p:nvSpPr>
          <p:cNvPr id="35" name="Text 32"/>
          <p:cNvSpPr/>
          <p:nvPr/>
        </p:nvSpPr>
        <p:spPr>
          <a:xfrm>
            <a:off x="457200" y="6126480"/>
            <a:ext cx="11247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60061"/>
            <a:ext cx="103327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300" b="1" dirty="0">
                <a:solidFill>
                  <a:srgbClr val="FFC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Increase the hours and size of the meters.</a:t>
            </a:r>
            <a:endParaRPr lang="en-US" sz="3300" dirty="0"/>
          </a:p>
        </p:txBody>
      </p:sp>
      <p:sp>
        <p:nvSpPr>
          <p:cNvPr id="3" name="Text 1"/>
          <p:cNvSpPr/>
          <p:nvPr/>
        </p:nvSpPr>
        <p:spPr>
          <a:xfrm>
            <a:off x="475488" y="713232"/>
            <a:ext cx="10332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987552"/>
            <a:ext cx="11274552" cy="22860"/>
          </a:xfrm>
          <a:prstGeom prst="rect">
            <a:avLst/>
          </a:prstGeom>
          <a:solidFill>
            <a:srgbClr val="0C1F2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57200" y="6455664"/>
            <a:ext cx="3154680" cy="329184"/>
          </a:xfrm>
          <a:prstGeom prst="chevron">
            <a:avLst/>
          </a:prstGeom>
          <a:solidFill>
            <a:srgbClr val="0C1F2D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Profitability review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657600" y="6455664"/>
            <a:ext cx="3154680" cy="329184"/>
          </a:xfrm>
          <a:prstGeom prst="chevron">
            <a:avLst/>
          </a:prstGeom>
          <a:solidFill>
            <a:srgbClr val="F2B909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C1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Fluke case study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1475720" y="6473952"/>
            <a:ext cx="6583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6E7A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66928" y="1237707"/>
            <a:ext cx="5806440" cy="1005840"/>
          </a:xfrm>
          <a:prstGeom prst="rect">
            <a:avLst/>
          </a:prstGeom>
          <a:solidFill>
            <a:srgbClr val="E8ECF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726948" y="1374213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C1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it.</a:t>
            </a: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731520" y="1689354"/>
            <a:ext cx="5486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 is 1,389 recent sales. I am 1.4% of it. Returns hold at 40% to $1,000 a unit. Nothing here is close to full.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66928" y="2414015"/>
            <a:ext cx="5806440" cy="1005840"/>
          </a:xfrm>
          <a:prstGeom prst="rect">
            <a:avLst/>
          </a:prstGeom>
          <a:solidFill>
            <a:srgbClr val="E8ECF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726948" y="260146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C1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levers, not one.</a:t>
            </a: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739140" y="2907792"/>
            <a:ext cx="5486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hours at a $600 ticket: about $482 to about $1,253 a month. Hours alone $804, ticket alone $752.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79120" y="3570514"/>
            <a:ext cx="5806440" cy="1005840"/>
          </a:xfrm>
          <a:prstGeom prst="rect">
            <a:avLst/>
          </a:prstGeom>
          <a:solidFill>
            <a:srgbClr val="E8ECF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731520" y="3835689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C1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 it with $3,000.</a:t>
            </a: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731520" y="4165092"/>
            <a:ext cx="5486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meters a month at $600. At a two-day hold I never hold all five at once.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79120" y="4727013"/>
            <a:ext cx="5806440" cy="1005840"/>
          </a:xfrm>
          <a:prstGeom prst="rect">
            <a:avLst/>
          </a:prstGeom>
          <a:solidFill>
            <a:srgbClr val="E8ECF1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731520" y="49834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C1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the hours starting now.</a:t>
            </a: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731520" y="5330952"/>
            <a:ext cx="5486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number above rests on a find rate I have never measured.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629400" y="1225296"/>
            <a:ext cx="4983480" cy="384048"/>
          </a:xfrm>
          <a:prstGeom prst="rect">
            <a:avLst/>
          </a:prstGeom>
          <a:solidFill>
            <a:srgbClr val="0C1F2D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Profit a month, at a 41.8% return</a:t>
            </a:r>
            <a:endParaRPr lang="en-US" sz="1200" dirty="0"/>
          </a:p>
        </p:txBody>
      </p:sp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629400" y="1645920"/>
          <a:ext cx="4983480" cy="1463040"/>
        </p:xfrm>
        <a:graphic>
          <a:graphicData uri="http://schemas.openxmlformats.org/drawingml/2006/table">
            <a:tbl>
              <a:tblPr/>
              <a:tblGrid>
                <a:gridCol w="1600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9260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Hours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F2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Ticket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F2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Profit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F2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 hrs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$385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$482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 hrs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$385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$804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 hrs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$600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$752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0C1F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 hrs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B90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0C1F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$600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B90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0C1F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$1,253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B90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3" name="Text 20"/>
          <p:cNvSpPr/>
          <p:nvPr/>
        </p:nvSpPr>
        <p:spPr>
          <a:xfrm>
            <a:off x="6629400" y="3310128"/>
            <a:ext cx="4983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C1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kills this</a:t>
            </a:r>
            <a:endParaRPr lang="en-US" dirty="0"/>
          </a:p>
        </p:txBody>
      </p:sp>
      <p:sp>
        <p:nvSpPr>
          <p:cNvPr id="24" name="Shape 21"/>
          <p:cNvSpPr/>
          <p:nvPr/>
        </p:nvSpPr>
        <p:spPr>
          <a:xfrm>
            <a:off x="6629400" y="3621024"/>
            <a:ext cx="4983480" cy="640080"/>
          </a:xfrm>
          <a:prstGeom prst="rect">
            <a:avLst/>
          </a:prstGeom>
          <a:solidFill>
            <a:srgbClr val="E8ECF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Shape 22"/>
          <p:cNvSpPr/>
          <p:nvPr/>
        </p:nvSpPr>
        <p:spPr>
          <a:xfrm>
            <a:off x="6629400" y="3621024"/>
            <a:ext cx="64008" cy="640080"/>
          </a:xfrm>
          <a:prstGeom prst="rect">
            <a:avLst/>
          </a:prstGeom>
          <a:solidFill>
            <a:srgbClr val="F2B90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3"/>
          <p:cNvSpPr/>
          <p:nvPr/>
        </p:nvSpPr>
        <p:spPr>
          <a:xfrm>
            <a:off x="6784848" y="3721390"/>
            <a:ext cx="4709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dead meter — condition risk scales with the ticket; the test rule matters more at $1,000.</a:t>
            </a:r>
            <a:endParaRPr lang="en-US" sz="1200" dirty="0"/>
          </a:p>
        </p:txBody>
      </p:sp>
      <p:sp>
        <p:nvSpPr>
          <p:cNvPr id="27" name="Shape 24"/>
          <p:cNvSpPr/>
          <p:nvPr/>
        </p:nvSpPr>
        <p:spPr>
          <a:xfrm>
            <a:off x="6629400" y="4352544"/>
            <a:ext cx="4983480" cy="640080"/>
          </a:xfrm>
          <a:prstGeom prst="rect">
            <a:avLst/>
          </a:prstGeom>
          <a:solidFill>
            <a:srgbClr val="E8ECF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Shape 25"/>
          <p:cNvSpPr/>
          <p:nvPr/>
        </p:nvSpPr>
        <p:spPr>
          <a:xfrm>
            <a:off x="6629400" y="4352544"/>
            <a:ext cx="64008" cy="640080"/>
          </a:xfrm>
          <a:prstGeom prst="rect">
            <a:avLst/>
          </a:prstGeom>
          <a:solidFill>
            <a:srgbClr val="F2B90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6"/>
          <p:cNvSpPr/>
          <p:nvPr/>
        </p:nvSpPr>
        <p:spPr>
          <a:xfrm>
            <a:off x="6797040" y="4535424"/>
            <a:ext cx="4709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Other resellers finding the same gap on Marketplace.</a:t>
            </a:r>
            <a:endParaRPr lang="en-US" sz="1200" dirty="0"/>
          </a:p>
        </p:txBody>
      </p:sp>
      <p:sp>
        <p:nvSpPr>
          <p:cNvPr id="30" name="Shape 27"/>
          <p:cNvSpPr/>
          <p:nvPr/>
        </p:nvSpPr>
        <p:spPr>
          <a:xfrm>
            <a:off x="6629400" y="5084064"/>
            <a:ext cx="4983480" cy="640080"/>
          </a:xfrm>
          <a:prstGeom prst="rect">
            <a:avLst/>
          </a:prstGeom>
          <a:solidFill>
            <a:srgbClr val="E8ECF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Shape 28"/>
          <p:cNvSpPr/>
          <p:nvPr/>
        </p:nvSpPr>
        <p:spPr>
          <a:xfrm>
            <a:off x="6629400" y="5084064"/>
            <a:ext cx="64008" cy="640080"/>
          </a:xfrm>
          <a:prstGeom prst="rect">
            <a:avLst/>
          </a:prstGeom>
          <a:solidFill>
            <a:srgbClr val="F2B90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29"/>
          <p:cNvSpPr/>
          <p:nvPr/>
        </p:nvSpPr>
        <p:spPr>
          <a:xfrm>
            <a:off x="6784848" y="5275653"/>
            <a:ext cx="4709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 own time. Five hours is my ceiling during the summer, not the semester</a:t>
            </a:r>
            <a:endParaRPr lang="en-US" sz="1200" dirty="0"/>
          </a:p>
        </p:txBody>
      </p:sp>
      <p:sp>
        <p:nvSpPr>
          <p:cNvPr id="33" name="Text 30"/>
          <p:cNvSpPr/>
          <p:nvPr/>
        </p:nvSpPr>
        <p:spPr>
          <a:xfrm>
            <a:off x="457200" y="6126480"/>
            <a:ext cx="11247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E7A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Hançerlioğulları, Şen &amp; Ağca Aktunç (2016), IJPDLM  ·  Tanlamai, Khern-am-nuai &amp; Adulyasak (2024), AI &amp; Society  ·  Revine (2025)  ·  SparkShift (2026).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>
            <a:extLst>
              <a:ext uri="{FF2B5EF4-FFF2-40B4-BE49-F238E27FC236}">
                <a16:creationId xmlns:a16="http://schemas.microsoft.com/office/drawing/2014/main" id="{9D0A905C-CF87-60E4-75A4-E0C495ABD1D6}"/>
              </a:ext>
            </a:extLst>
          </p:cNvPr>
          <p:cNvSpPr/>
          <p:nvPr/>
        </p:nvSpPr>
        <p:spPr>
          <a:xfrm>
            <a:off x="457200" y="987552"/>
            <a:ext cx="11274552" cy="22860"/>
          </a:xfrm>
          <a:prstGeom prst="rect">
            <a:avLst/>
          </a:prstGeom>
          <a:solidFill>
            <a:srgbClr val="0C1F2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0">
            <a:extLst>
              <a:ext uri="{FF2B5EF4-FFF2-40B4-BE49-F238E27FC236}">
                <a16:creationId xmlns:a16="http://schemas.microsoft.com/office/drawing/2014/main" id="{DEEA2B90-FF86-1E1D-3ADD-099FAC7C3018}"/>
              </a:ext>
            </a:extLst>
          </p:cNvPr>
          <p:cNvSpPr/>
          <p:nvPr/>
        </p:nvSpPr>
        <p:spPr>
          <a:xfrm>
            <a:off x="457200" y="260061"/>
            <a:ext cx="103327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300" b="1" dirty="0">
                <a:solidFill>
                  <a:srgbClr val="FFC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Tracker Overview</a:t>
            </a:r>
            <a:endParaRPr lang="en-US" sz="33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6BC6316-F268-D117-5D4C-E59BED9BB0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199" y="1134399"/>
            <a:ext cx="11274551" cy="52496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731087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42</TotalTime>
  <Words>1173</Words>
  <Application>Microsoft Macintosh PowerPoint</Application>
  <PresentationFormat>Widescreen</PresentationFormat>
  <Paragraphs>154</Paragraphs>
  <Slides>10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Forcucci, Camillo</cp:lastModifiedBy>
  <cp:revision>13</cp:revision>
  <dcterms:created xsi:type="dcterms:W3CDTF">2026-07-15T21:49:26Z</dcterms:created>
  <dcterms:modified xsi:type="dcterms:W3CDTF">2026-07-15T22:49:28Z</dcterms:modified>
</cp:coreProperties>
</file>